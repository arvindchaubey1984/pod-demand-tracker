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5566"/>
          </a:solidFill>
          <a:ln w="12700">
            <a:solidFill>
              <a:srgbClr val="0455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8C5"/>
          </a:solidFill>
          <a:ln w="12700">
            <a:solidFill>
              <a:srgbClr val="00A8C5"/>
            </a:solidFill>
            <a:prstDash val="solid"/>
          </a:ln>
        </p:spPr>
      </p:sp>
      <p:pic>
        <p:nvPicPr>
          <p:cNvPr id="4" name="Image 0" descr="C:\Users\ArvindKumarChaubey\OneDrive - Winfo Solutions\Documents\Offsite-Aug\pod-demand-tracker\public\winfo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1554480" cy="6217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9659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C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McKesson Data Team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0080" y="233172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Plan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– Dec 2026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640080" y="40233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5E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certifications on the plan  ·  Q4 exam window coverage (anonymized)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5E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of 12 Oct 2026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6263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C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Winfo Solutions  ·  Confidential – for customer review  ·  No named resources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8"/>
          </a:solidFill>
          <a:ln w="12700">
            <a:solidFill>
              <a:srgbClr val="F3F7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45566"/>
          </a:solidFill>
          <a:ln w="12700">
            <a:solidFill>
              <a:srgbClr val="0455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00A8C5"/>
          </a:solidFill>
          <a:ln w="12700">
            <a:solidFill>
              <a:srgbClr val="00A8C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46304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snapshot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65760" y="49377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certification plan size and current progress (no named associates)</a:t>
            </a:r>
            <a:endParaRPr lang="en-US" sz="1100" dirty="0"/>
          </a:p>
        </p:txBody>
      </p:sp>
      <p:pic>
        <p:nvPicPr>
          <p:cNvPr id="7" name="Image 0" descr="C:\Users\ArvindKumarChaubey\OneDrive - Winfo Solutions\Documents\Offsite-Aug\pod-demand-tracker\public\winfo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164592"/>
            <a:ext cx="1325880" cy="53035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6601968"/>
            <a:ext cx="11430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Winfo Solutions  ·  McKesson Account  ·  Certification Plan  ·  Confidential  ·  2/6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11480" y="1234440"/>
            <a:ext cx="36118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0E4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11480" y="1234440"/>
            <a:ext cx="73152" cy="2057400"/>
          </a:xfrm>
          <a:prstGeom prst="rect">
            <a:avLst/>
          </a:prstGeom>
          <a:solidFill>
            <a:srgbClr val="007A93"/>
          </a:solidFill>
          <a:ln w="12700">
            <a:solidFill>
              <a:srgbClr val="007A9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76072" y="143560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plan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76072" y="178308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3200" dirty="0"/>
          </a:p>
        </p:txBody>
      </p:sp>
      <p:sp>
        <p:nvSpPr>
          <p:cNvPr id="14" name="Shape 11"/>
          <p:cNvSpPr/>
          <p:nvPr/>
        </p:nvSpPr>
        <p:spPr>
          <a:xfrm>
            <a:off x="4251960" y="1234440"/>
            <a:ext cx="36118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0E4E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251960" y="1234440"/>
            <a:ext cx="73152" cy="2057400"/>
          </a:xfrm>
          <a:prstGeom prst="rect">
            <a:avLst/>
          </a:prstGeom>
          <a:solidFill>
            <a:srgbClr val="045566"/>
          </a:solidFill>
          <a:ln w="12700">
            <a:solidFill>
              <a:srgbClr val="04556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416552" y="143560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exam targets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A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(Oct–Dec)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416552" y="178308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3200" dirty="0"/>
          </a:p>
        </p:txBody>
      </p:sp>
      <p:sp>
        <p:nvSpPr>
          <p:cNvPr id="18" name="Shape 15"/>
          <p:cNvSpPr/>
          <p:nvPr/>
        </p:nvSpPr>
        <p:spPr>
          <a:xfrm>
            <a:off x="8092440" y="1234440"/>
            <a:ext cx="36118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0E4E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092440" y="1234440"/>
            <a:ext cx="73152" cy="2057400"/>
          </a:xfrm>
          <a:prstGeom prst="rect">
            <a:avLst/>
          </a:prstGeom>
          <a:solidFill>
            <a:srgbClr val="1F8A5B"/>
          </a:solidFill>
          <a:ln w="12700">
            <a:solidFill>
              <a:srgbClr val="1F8A5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257032" y="143560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completed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A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(before / outside Q4)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257032" y="178308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22" name="Shape 19"/>
          <p:cNvSpPr/>
          <p:nvPr/>
        </p:nvSpPr>
        <p:spPr>
          <a:xfrm>
            <a:off x="411480" y="3566160"/>
            <a:ext cx="36118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0E4E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11480" y="3566160"/>
            <a:ext cx="73152" cy="2057400"/>
          </a:xfrm>
          <a:prstGeom prst="rect">
            <a:avLst/>
          </a:prstGeom>
          <a:solidFill>
            <a:srgbClr val="00A8C5"/>
          </a:solidFill>
          <a:ln w="12700">
            <a:solidFill>
              <a:srgbClr val="00A8C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76072" y="376732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Booked slot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76072" y="411480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26" name="Shape 23"/>
          <p:cNvSpPr/>
          <p:nvPr/>
        </p:nvSpPr>
        <p:spPr>
          <a:xfrm>
            <a:off x="4251960" y="3566160"/>
            <a:ext cx="36118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0E4E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251960" y="3566160"/>
            <a:ext cx="73152" cy="2057400"/>
          </a:xfrm>
          <a:prstGeom prst="rect">
            <a:avLst/>
          </a:prstGeom>
          <a:solidFill>
            <a:srgbClr val="C47A12"/>
          </a:solidFill>
          <a:ln w="12700">
            <a:solidFill>
              <a:srgbClr val="C47A1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416552" y="376732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4416552" y="411480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3200" dirty="0"/>
          </a:p>
        </p:txBody>
      </p:sp>
      <p:sp>
        <p:nvSpPr>
          <p:cNvPr id="30" name="Shape 27"/>
          <p:cNvSpPr/>
          <p:nvPr/>
        </p:nvSpPr>
        <p:spPr>
          <a:xfrm>
            <a:off x="8092440" y="3566160"/>
            <a:ext cx="36118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0E4EA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092440" y="3566160"/>
            <a:ext cx="73152" cy="2057400"/>
          </a:xfrm>
          <a:prstGeom prst="rect">
            <a:avLst/>
          </a:prstGeom>
          <a:solidFill>
            <a:srgbClr val="5A7078"/>
          </a:solidFill>
          <a:ln w="12700">
            <a:solidFill>
              <a:srgbClr val="5A707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257032" y="376732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 to start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8257032" y="411480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8"/>
          </a:solidFill>
          <a:ln w="12700">
            <a:solidFill>
              <a:srgbClr val="F3F7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45566"/>
          </a:solidFill>
          <a:ln w="12700">
            <a:solidFill>
              <a:srgbClr val="0455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00A8C5"/>
          </a:solidFill>
          <a:ln w="12700">
            <a:solidFill>
              <a:srgbClr val="00A8C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46304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coverage by month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65760" y="49377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certifications are targeted for exam in each month</a:t>
            </a:r>
            <a:endParaRPr lang="en-US" sz="1100" dirty="0"/>
          </a:p>
        </p:txBody>
      </p:sp>
      <p:pic>
        <p:nvPicPr>
          <p:cNvPr id="7" name="Image 0" descr="C:\Users\ArvindKumarChaubey\OneDrive - Winfo Solutions\Documents\Offsite-Aug\pod-demand-tracker\public\winfo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164592"/>
            <a:ext cx="1325880" cy="53035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6601968"/>
            <a:ext cx="11430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Winfo Solutions  ·  McKesson Account  ·  Certification Plan  ·  Confidential  ·  3/6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1188720"/>
            <a:ext cx="3611880" cy="502920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0E4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1188720"/>
            <a:ext cx="3611880" cy="640080"/>
          </a:xfrm>
          <a:prstGeom prst="rect">
            <a:avLst/>
          </a:prstGeom>
          <a:solidFill>
            <a:srgbClr val="045566"/>
          </a:solidFill>
          <a:ln w="12700">
            <a:solidFill>
              <a:srgbClr val="04556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129844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85800" y="20574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4400" dirty="0"/>
          </a:p>
        </p:txBody>
      </p:sp>
      <p:sp>
        <p:nvSpPr>
          <p:cNvPr id="14" name="Text 11"/>
          <p:cNvSpPr/>
          <p:nvPr/>
        </p:nvSpPr>
        <p:spPr>
          <a:xfrm>
            <a:off x="685800" y="2697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 targeted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68680" y="3200400"/>
            <a:ext cx="1005840" cy="1645920"/>
          </a:xfrm>
          <a:prstGeom prst="roundRect">
            <a:avLst>
              <a:gd name="adj" fmla="val 5455"/>
            </a:avLst>
          </a:prstGeom>
          <a:solidFill>
            <a:srgbClr val="007A93"/>
          </a:solidFill>
          <a:ln w="12700">
            <a:solidFill>
              <a:srgbClr val="007A9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103120" y="33832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58%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plan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85800" y="4983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A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Booked slot:  2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85800" y="5303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7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progress:  17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85800" y="56235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 to start:  0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297680" y="1188720"/>
            <a:ext cx="3611880" cy="502920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0E4E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297680" y="1188720"/>
            <a:ext cx="3611880" cy="640080"/>
          </a:xfrm>
          <a:prstGeom prst="rect">
            <a:avLst/>
          </a:prstGeom>
          <a:solidFill>
            <a:srgbClr val="045566"/>
          </a:solidFill>
          <a:ln w="12700">
            <a:solidFill>
              <a:srgbClr val="04556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480560" y="129844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November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4526280" y="20574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4400" dirty="0"/>
          </a:p>
        </p:txBody>
      </p:sp>
      <p:sp>
        <p:nvSpPr>
          <p:cNvPr id="24" name="Text 21"/>
          <p:cNvSpPr/>
          <p:nvPr/>
        </p:nvSpPr>
        <p:spPr>
          <a:xfrm>
            <a:off x="4526280" y="2697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 targeted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709160" y="4066674"/>
            <a:ext cx="1005840" cy="779646"/>
          </a:xfrm>
          <a:prstGeom prst="roundRect">
            <a:avLst>
              <a:gd name="adj" fmla="val 7037"/>
            </a:avLst>
          </a:prstGeom>
          <a:solidFill>
            <a:srgbClr val="007A93"/>
          </a:solidFill>
          <a:ln w="12700">
            <a:solidFill>
              <a:srgbClr val="007A9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943600" y="33832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27%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plan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4526280" y="4983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A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Booked slot:  0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526280" y="5303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7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progress:  7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4526280" y="56235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 to start:  2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8138160" y="1188720"/>
            <a:ext cx="3611880" cy="502920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0E4EA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138160" y="1188720"/>
            <a:ext cx="3611880" cy="640080"/>
          </a:xfrm>
          <a:prstGeom prst="rect">
            <a:avLst/>
          </a:prstGeom>
          <a:solidFill>
            <a:srgbClr val="045566"/>
          </a:solidFill>
          <a:ln w="12700">
            <a:solidFill>
              <a:srgbClr val="045566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321040" y="129844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December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8366760" y="20574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400" dirty="0"/>
          </a:p>
        </p:txBody>
      </p:sp>
      <p:sp>
        <p:nvSpPr>
          <p:cNvPr id="34" name="Text 31"/>
          <p:cNvSpPr/>
          <p:nvPr/>
        </p:nvSpPr>
        <p:spPr>
          <a:xfrm>
            <a:off x="8366760" y="2697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 targeted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8549640" y="4586438"/>
            <a:ext cx="1005840" cy="259882"/>
          </a:xfrm>
          <a:prstGeom prst="roundRect">
            <a:avLst>
              <a:gd name="adj" fmla="val 21111"/>
            </a:avLst>
          </a:prstGeom>
          <a:solidFill>
            <a:srgbClr val="007A93"/>
          </a:solidFill>
          <a:ln w="12700">
            <a:solidFill>
              <a:srgbClr val="007A9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9784080" y="33832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9%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plan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8366760" y="4983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A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Booked slot:  1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8366760" y="5303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7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progress:  2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8366760" y="56235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 to start:  0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8"/>
          </a:solidFill>
          <a:ln w="12700">
            <a:solidFill>
              <a:srgbClr val="F3F7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45566"/>
          </a:solidFill>
          <a:ln w="12700">
            <a:solidFill>
              <a:srgbClr val="0455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00A8C5"/>
          </a:solidFill>
          <a:ln w="12700">
            <a:solidFill>
              <a:srgbClr val="00A8C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46304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focus areas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65760" y="49377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plan invests — role-aligned credentials across the team</a:t>
            </a:r>
            <a:endParaRPr lang="en-US" sz="1100" dirty="0"/>
          </a:p>
        </p:txBody>
      </p:sp>
      <p:pic>
        <p:nvPicPr>
          <p:cNvPr id="7" name="Image 0" descr="C:\Users\ArvindKumarChaubey\OneDrive - Winfo Solutions\Documents\Offsite-Aug\pod-demand-tracker\public\winfo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164592"/>
            <a:ext cx="1325880" cy="53035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6601968"/>
            <a:ext cx="11430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Winfo Solutions  ·  McKesson Account  ·  Certification Plan  ·  Confidential  ·  4/6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02920" y="1234440"/>
            <a:ext cx="11155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0E4E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139903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Associate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77240" y="1737360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on plan  ·  64% of total certifications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772400" y="1581912"/>
            <a:ext cx="2926080" cy="274320"/>
          </a:xfrm>
          <a:prstGeom prst="roundRect">
            <a:avLst>
              <a:gd name="adj" fmla="val 33333"/>
            </a:avLst>
          </a:prstGeom>
          <a:solidFill>
            <a:srgbClr val="D8EEF3"/>
          </a:solidFill>
          <a:ln w="12700">
            <a:solidFill>
              <a:srgbClr val="D8EEF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772400" y="1581912"/>
            <a:ext cx="2926080" cy="274320"/>
          </a:xfrm>
          <a:prstGeom prst="roundRect">
            <a:avLst>
              <a:gd name="adj" fmla="val 33333"/>
            </a:avLst>
          </a:prstGeom>
          <a:solidFill>
            <a:srgbClr val="007A93"/>
          </a:solidFill>
          <a:ln w="12700">
            <a:solidFill>
              <a:srgbClr val="007A9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835640" y="15270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02920" y="2331720"/>
            <a:ext cx="11155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0E4E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7240" y="249631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Associate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77240" y="2834640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on plan  ·  18% of total certifications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772400" y="2679192"/>
            <a:ext cx="2926080" cy="274320"/>
          </a:xfrm>
          <a:prstGeom prst="roundRect">
            <a:avLst>
              <a:gd name="adj" fmla="val 33333"/>
            </a:avLst>
          </a:prstGeom>
          <a:solidFill>
            <a:srgbClr val="D8EEF3"/>
          </a:solidFill>
          <a:ln w="12700">
            <a:solidFill>
              <a:srgbClr val="D8EEF3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772400" y="2679192"/>
            <a:ext cx="836023" cy="274320"/>
          </a:xfrm>
          <a:prstGeom prst="roundRect">
            <a:avLst>
              <a:gd name="adj" fmla="val 33333"/>
            </a:avLst>
          </a:prstGeom>
          <a:solidFill>
            <a:srgbClr val="007A93"/>
          </a:solidFill>
          <a:ln w="12700">
            <a:solidFill>
              <a:srgbClr val="007A9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835640" y="262432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502920" y="3429000"/>
            <a:ext cx="11155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0E4E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77240" y="359359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Engineering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777240" y="3931920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on plan  ·  9% of total certifications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7772400" y="3776472"/>
            <a:ext cx="2926080" cy="274320"/>
          </a:xfrm>
          <a:prstGeom prst="roundRect">
            <a:avLst>
              <a:gd name="adj" fmla="val 33333"/>
            </a:avLst>
          </a:prstGeom>
          <a:solidFill>
            <a:srgbClr val="D8EEF3"/>
          </a:solidFill>
          <a:ln w="12700">
            <a:solidFill>
              <a:srgbClr val="D8EEF3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772400" y="3776472"/>
            <a:ext cx="418011" cy="274320"/>
          </a:xfrm>
          <a:prstGeom prst="roundRect">
            <a:avLst>
              <a:gd name="adj" fmla="val 33333"/>
            </a:avLst>
          </a:prstGeom>
          <a:solidFill>
            <a:srgbClr val="007A93"/>
          </a:solidFill>
          <a:ln w="12700">
            <a:solidFill>
              <a:srgbClr val="007A9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835640" y="372160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502920" y="4526280"/>
            <a:ext cx="11155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0E4E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77240" y="469087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Professional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777240" y="5029200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on plan  ·  9% of total certifications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7772400" y="4873752"/>
            <a:ext cx="2926080" cy="274320"/>
          </a:xfrm>
          <a:prstGeom prst="roundRect">
            <a:avLst>
              <a:gd name="adj" fmla="val 33333"/>
            </a:avLst>
          </a:prstGeom>
          <a:solidFill>
            <a:srgbClr val="D8EEF3"/>
          </a:solidFill>
          <a:ln w="12700">
            <a:solidFill>
              <a:srgbClr val="D8EEF3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772400" y="4873752"/>
            <a:ext cx="418011" cy="274320"/>
          </a:xfrm>
          <a:prstGeom prst="roundRect">
            <a:avLst>
              <a:gd name="adj" fmla="val 33333"/>
            </a:avLst>
          </a:prstGeom>
          <a:solidFill>
            <a:srgbClr val="007A93"/>
          </a:solidFill>
          <a:ln w="12700">
            <a:solidFill>
              <a:srgbClr val="007A9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0835640" y="481888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8"/>
          </a:solidFill>
          <a:ln w="12700">
            <a:solidFill>
              <a:srgbClr val="F3F7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45566"/>
          </a:solidFill>
          <a:ln w="12700">
            <a:solidFill>
              <a:srgbClr val="0455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00A8C5"/>
          </a:solidFill>
          <a:ln w="12700">
            <a:solidFill>
              <a:srgbClr val="00A8C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46304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× certification coverage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65760" y="49377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of each certification are planned in Oct, Nov, and Dec</a:t>
            </a:r>
            <a:endParaRPr lang="en-US" sz="1100" dirty="0"/>
          </a:p>
        </p:txBody>
      </p:sp>
      <p:pic>
        <p:nvPicPr>
          <p:cNvPr id="7" name="Image 0" descr="C:\Users\ArvindKumarChaubey\OneDrive - Winfo Solutions\Documents\Offsite-Aug\pod-demand-tracker\public\winfo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164592"/>
            <a:ext cx="1325880" cy="53035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6601968"/>
            <a:ext cx="11430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Winfo Solutions  ·  McKesson Account  ·  Certification Plan  ·  Confidential  ·  5/6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0160"/>
          <a:ext cx="11155680" cy="914400"/>
        </p:xfrm>
        <a:graphic>
          <a:graphicData uri="http://schemas.openxmlformats.org/drawingml/2006/table">
            <a:tbl>
              <a:tblPr/>
              <a:tblGrid>
                <a:gridCol w="4754880"/>
                <a:gridCol w="1463040"/>
                <a:gridCol w="1463040"/>
                <a:gridCol w="1463040"/>
                <a:gridCol w="20116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Certification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55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55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55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55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Q4 total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556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2B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Engineering Associate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45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45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70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7A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2B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Analyst Associate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45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45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70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7A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2B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Generative AI Engineering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70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45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45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7A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2B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Engineering Professional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45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70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45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7A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certifications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A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A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A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A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A93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502920" y="598932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planned exams: 31 of 33 on the overall plan  ·  2 already dated outside Oct–Dec (incl. 2 completed)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8"/>
          </a:solidFill>
          <a:ln w="12700">
            <a:solidFill>
              <a:srgbClr val="F3F7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45566"/>
          </a:solidFill>
          <a:ln w="12700">
            <a:solidFill>
              <a:srgbClr val="0455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00A8C5"/>
          </a:solidFill>
          <a:ln w="12700">
            <a:solidFill>
              <a:srgbClr val="00A8C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46304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outlook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65760" y="49377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aim to cover through December — tracked without sharing named resources</a:t>
            </a:r>
            <a:endParaRPr lang="en-US" sz="1100" dirty="0"/>
          </a:p>
        </p:txBody>
      </p:sp>
      <p:pic>
        <p:nvPicPr>
          <p:cNvPr id="7" name="Image 0" descr="C:\Users\ArvindKumarChaubey\OneDrive - Winfo Solutions\Documents\Offsite-Aug\pod-demand-tracker\public\winfo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164592"/>
            <a:ext cx="1325880" cy="53035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6601968"/>
            <a:ext cx="11430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Winfo Solutions  ·  McKesson Account  ·  Certification Plan  ·  Confidential  ·  6/6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1188720"/>
            <a:ext cx="73152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0E4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1188720"/>
            <a:ext cx="73152" cy="1005840"/>
          </a:xfrm>
          <a:prstGeom prst="rect">
            <a:avLst/>
          </a:prstGeom>
          <a:solidFill>
            <a:srgbClr val="007A93"/>
          </a:solidFill>
          <a:ln w="12700">
            <a:solidFill>
              <a:srgbClr val="007A9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135331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31520" y="1664208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certifications targeted — heaviest month on the plan (2 booked, 17 in progress).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57200" y="2331720"/>
            <a:ext cx="73152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0E4E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7200" y="2331720"/>
            <a:ext cx="73152" cy="1005840"/>
          </a:xfrm>
          <a:prstGeom prst="rect">
            <a:avLst/>
          </a:prstGeom>
          <a:solidFill>
            <a:srgbClr val="00A8C5"/>
          </a:solidFill>
          <a:ln w="12700">
            <a:solidFill>
              <a:srgbClr val="00A8C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31520" y="249631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November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31520" y="2807208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certifications targeted — includes remaining DE / DA associates and GenAI starts (2 yet to start).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57200" y="3474720"/>
            <a:ext cx="73152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0E4E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57200" y="3474720"/>
            <a:ext cx="73152" cy="1005840"/>
          </a:xfrm>
          <a:prstGeom prst="rect">
            <a:avLst/>
          </a:prstGeom>
          <a:solidFill>
            <a:srgbClr val="045566"/>
          </a:solidFill>
          <a:ln w="12700">
            <a:solidFill>
              <a:srgbClr val="04556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31520" y="363931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December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31520" y="3950208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certifications targeted — advanced track (Professional / GenAI), including 1 booked slot.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8001000" y="1188720"/>
            <a:ext cx="3749040" cy="502920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D0E4E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001000" y="1188720"/>
            <a:ext cx="73152" cy="5029200"/>
          </a:xfrm>
          <a:prstGeom prst="rect">
            <a:avLst/>
          </a:prstGeom>
          <a:solidFill>
            <a:srgbClr val="045566"/>
          </a:solidFill>
          <a:ln w="12700">
            <a:solidFill>
              <a:srgbClr val="04556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275320" y="1417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rhythm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8275320" y="1920240"/>
            <a:ext cx="32004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Plan sized at 33 certifications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Status path: YTS → In progress → Booked → Completed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Monthly exam targets for Oct / Nov / Dec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Focus: Data Engineering, Data Analyst, GenAI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Customer view stays aggregate — no named roster in this pack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target volume: 31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completed: 2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McKesson Data Team – Certification Plan (Oct–Dec)</dc:title>
  <dc:subject>Anonymized Q4 certification coverage plan</dc:subject>
  <dc:creator>Winfo Solutions</dc:creator>
  <cp:lastModifiedBy>Winfo Solutions</cp:lastModifiedBy>
  <cp:revision>1</cp:revision>
  <dcterms:created xsi:type="dcterms:W3CDTF">2026-10-12T07:49:16Z</dcterms:created>
  <dcterms:modified xsi:type="dcterms:W3CDTF">2026-10-12T07:49:16Z</dcterms:modified>
</cp:coreProperties>
</file>